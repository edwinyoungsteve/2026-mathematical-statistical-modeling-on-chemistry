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25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1389888"/>
            <a:ext cx="9875520" cy="56692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Microsoft YaHei"/>
              </a:rPr>
              <a:t>基于集成学习的 EGFR 抑制剂活性预测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418320" cy="3474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Microsoft YaHei"/>
              </a:rPr>
              <a:t>分子描述符与 Morgan 指纹的融合建模及虚拟筛选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34640"/>
            <a:ext cx="1051560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5303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EGFR 抑制剂活性预测与虚拟筛选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50992"/>
            <a:ext cx="1828800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 dirty="0">
                <a:solidFill>
                  <a:srgbClr val="52606D"/>
                </a:solidFill>
                <a:latin typeface="Microsoft YaHei"/>
              </a:rPr>
              <a:t>2026</a:t>
            </a:r>
            <a:r>
              <a:rPr lang="en-US" sz="1100" b="0" dirty="0">
                <a:solidFill>
                  <a:srgbClr val="52606D"/>
                </a:solidFill>
                <a:latin typeface="Microsoft YaHei"/>
              </a:rPr>
              <a:t>/10</a:t>
            </a:r>
            <a:endParaRPr sz="1100" b="0" dirty="0">
              <a:solidFill>
                <a:srgbClr val="52606D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01 实现目标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研究目标与技术路线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从数据处理到虚拟筛选的完整方法流程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3456432" cy="3456432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3456432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3163824" cy="279806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ChEMBL EGFR 活性记录
SMILES、IC50、pChEMBL、分子标识
最终保留 1,830 个唯一分子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3456432" cy="3456432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54864" cy="3456432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993392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核心处理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95728"/>
            <a:ext cx="3163824" cy="279806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清洗 → 描述符 / 指纹
特征选择 → 模型训练
交叉验证 → 结果分析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3456432" cy="3456432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828800"/>
            <a:ext cx="54864" cy="3456432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993392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95728"/>
            <a:ext cx="3163824" cy="279806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pChEMBL 回归预测
Active 概率与排序
CSV 导出、前端交互与报告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02 工程组织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项目模块与技术路线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项目按数据、特征、模型和应用四个层次组织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105156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环节一：数据收集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2221992" cy="39319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原始 CSV / Excel
描述符、指纹计算脚本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27248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127248"/>
            <a:ext cx="54864" cy="105156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291840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环节二：清洗与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694176"/>
            <a:ext cx="2221992" cy="39319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清洗脚本、报告、图表
清洗后 Excel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2880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1828800"/>
            <a:ext cx="54864" cy="105156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199339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环节三：特征工程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395728"/>
            <a:ext cx="2221992" cy="39319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相关性过滤、标准化
NPZ 与 feature_names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127248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9000" y="3127248"/>
            <a:ext cx="54864" cy="1051560"/>
          </a:xfrm>
          <a:prstGeom prst="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3291840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D95D5D"/>
                </a:solidFill>
                <a:latin typeface="Microsoft YaHei"/>
              </a:rPr>
              <a:t>环节四：模型训练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694176"/>
            <a:ext cx="2221992" cy="39319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四类基线模型
评估报告与图表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82880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1828800"/>
            <a:ext cx="54864" cy="1051560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99339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0B8C9"/>
                </a:solidFill>
                <a:latin typeface="Microsoft YaHei"/>
              </a:rPr>
              <a:t>环节五：集成学习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395728"/>
            <a:ext cx="2221992" cy="39319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Stacking / Voting
比较图与报告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3127248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9632" y="3127248"/>
            <a:ext cx="54864" cy="105156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291840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环节六：模型优化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694176"/>
            <a:ext cx="2221992" cy="39319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MI、调参、ET/KNN
优化前后对比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0264" y="1828800"/>
            <a:ext cx="2606040" cy="2350008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70264" y="1828800"/>
            <a:ext cx="54864" cy="2350008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53144" y="1993392"/>
            <a:ext cx="233172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frontend / 数据演示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2395728"/>
            <a:ext cx="2313432" cy="169163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前端页面、样式、交互
单分子与批量预测
筛选结果 CSV 和可视化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03 数据输入实现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第一步：把公开实验数据转成统一表格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 dirty="0" err="1">
                <a:solidFill>
                  <a:srgbClr val="52606D"/>
                </a:solidFill>
                <a:latin typeface="Microsoft YaHei"/>
              </a:rPr>
              <a:t>建立稳定的数据入口</a:t>
            </a:r>
            <a:endParaRPr sz="1100" b="0" dirty="0">
              <a:solidFill>
                <a:srgbClr val="52606D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2057400"/>
            <a:ext cx="18288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47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2167128"/>
            <a:ext cx="168249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1479A6"/>
                </a:solidFill>
                <a:latin typeface="Microsoft YaHei"/>
              </a:rPr>
              <a:t>原始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68880"/>
            <a:ext cx="168249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ChEMBL 导出
2264 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2487168"/>
            <a:ext cx="420624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063240" y="2057400"/>
            <a:ext cx="19202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2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36392" y="2167128"/>
            <a:ext cx="177393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F28E5B"/>
                </a:solidFill>
                <a:latin typeface="Microsoft YaHei"/>
              </a:rPr>
              <a:t>字段筛选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468880"/>
            <a:ext cx="177393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EGFR / IC50
pChEMBL / SMILES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47488" y="2487168"/>
            <a:ext cx="420624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532120" y="2057400"/>
            <a:ext cx="19202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9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05272" y="2167128"/>
            <a:ext cx="177393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2E9D73"/>
                </a:solidFill>
                <a:latin typeface="Microsoft YaHei"/>
              </a:rPr>
              <a:t>RDKit 计算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2468880"/>
            <a:ext cx="177393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分子描述符
Morgan 指纹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16368" y="2487168"/>
            <a:ext cx="420624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001000" y="2057400"/>
            <a:ext cx="18288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0B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2167128"/>
            <a:ext cx="168249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20B8C9"/>
                </a:solidFill>
                <a:latin typeface="Microsoft YaHei"/>
              </a:rPr>
              <a:t>合并保存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468880"/>
            <a:ext cx="168249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描述符与指纹
Excel 中间文件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93808" y="2487168"/>
            <a:ext cx="393192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332720" y="2057400"/>
            <a:ext cx="1234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05872" y="2167128"/>
            <a:ext cx="108813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D95D5D"/>
                </a:solidFill>
                <a:latin typeface="Microsoft YaHei"/>
              </a:rPr>
              <a:t>清洗入口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5872" y="2468880"/>
            <a:ext cx="108813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01_数据清洗.py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749039"/>
            <a:ext cx="3456432" cy="1508760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" y="3749039"/>
            <a:ext cx="54864" cy="150876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913631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数据组织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315968"/>
            <a:ext cx="3163824" cy="8503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原始数据、描述符和指纹分开保存，便于后续重复实验。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749039"/>
            <a:ext cx="3456432" cy="1508760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70832" y="3749039"/>
            <a:ext cx="54864" cy="150876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3712" y="3913631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关键对象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315968"/>
            <a:ext cx="3163824" cy="8503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SMILES 是分子主键；Molecule ChEMBL ID 用于去重和回溯。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8431" y="3749039"/>
            <a:ext cx="3456432" cy="1508760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28431" y="3749039"/>
            <a:ext cx="54864" cy="150876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1" y="3913631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输出结果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4315968"/>
            <a:ext cx="3163824" cy="8503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得到可复用的结构特征表。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04 数据清洗实现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第二步：在进入模型前解决缺失、重复和异常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 dirty="0" err="1">
                <a:solidFill>
                  <a:srgbClr val="52606D"/>
                </a:solidFill>
                <a:latin typeface="Microsoft YaHei"/>
              </a:rPr>
              <a:t>把实验记录转换为“一分子一行”的监督学习样本</a:t>
            </a:r>
            <a:endParaRPr sz="1100" b="0" dirty="0">
              <a:solidFill>
                <a:srgbClr val="52606D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pchemb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32" y="1783080"/>
            <a:ext cx="374067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57800" y="1783080"/>
            <a:ext cx="2880360" cy="1078992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57800" y="1783080"/>
            <a:ext cx="54864" cy="1078992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0680" y="1947672"/>
            <a:ext cx="26060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1. 缺失与异常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50008"/>
            <a:ext cx="2587752" cy="42062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去除 40 条 pChEMBL 缺失；过滤范围 [3,12]；处理无穷值。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783080"/>
            <a:ext cx="3063240" cy="1078992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783080"/>
            <a:ext cx="54864" cy="1078992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947672"/>
            <a:ext cx="278892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2. 分子去重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50008"/>
            <a:ext cx="2770632" cy="42062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3703 条记录 → 1830 个分子；同一分子多次测量取中位数。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3063240"/>
            <a:ext cx="2880360" cy="1078992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57800" y="3063240"/>
            <a:ext cx="54864" cy="1078992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3227832"/>
            <a:ext cx="26060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3. 特征清理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630168"/>
            <a:ext cx="2587752" cy="42062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中位数填充；AlogP 用 MolLogP 补齐；删除零方差列。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063240"/>
            <a:ext cx="3063240" cy="1078992"/>
          </a:xfrm>
          <a:prstGeom prst="rect">
            <a:avLst/>
          </a:prstGeom>
          <a:solidFill>
            <a:srgbClr val="FCE9E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20" y="3063240"/>
            <a:ext cx="54864" cy="1078992"/>
          </a:xfrm>
          <a:prstGeom prst="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3227832"/>
            <a:ext cx="278892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D95D5D"/>
                </a:solidFill>
                <a:latin typeface="Microsoft YaHei"/>
              </a:rPr>
              <a:t>4. 生成标签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30168"/>
            <a:ext cx="2770632" cy="42062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pChEMBL ≥ 6.0 → Active；同步输出回归值与分类标签。</a:t>
            </a:r>
          </a:p>
        </p:txBody>
      </p:sp>
      <p:pic>
        <p:nvPicPr>
          <p:cNvPr id="23" name="Picture 22" descr="02_activit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89" y="4498848"/>
            <a:ext cx="1092156" cy="1143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05 特征工程实现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第三步：把“能计算”变成“适合训练”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 dirty="0" err="1">
                <a:solidFill>
                  <a:srgbClr val="52606D"/>
                </a:solidFill>
                <a:latin typeface="Microsoft YaHei"/>
              </a:rPr>
              <a:t>同时处理冗余、尺度和数据划分</a:t>
            </a:r>
            <a:endParaRPr sz="1100" b="0" dirty="0">
              <a:solidFill>
                <a:srgbClr val="52606D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2743200" cy="1874519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1874519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相关性过滤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2450592" cy="12161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描述符之间计算 Pearson 相关系数；|r| &gt; 0.95 的冗余项移除。
190 → 153 个描述符。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828800"/>
            <a:ext cx="2743200" cy="1874519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54864" cy="1874519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1993392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尺度处理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95728"/>
            <a:ext cx="2450592" cy="12161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描述符使用 StandardScaler；Morgan 指纹保留原始 0/1 编码。
避免不同量纲影响模型。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1828800"/>
            <a:ext cx="2743200" cy="1874519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65392" y="1828800"/>
            <a:ext cx="54864" cy="1874519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2" y="1993392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数据划分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395728"/>
            <a:ext cx="2450592" cy="12161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分层 8:1:1：Train 1464、Val 183、Test 183。
保持 Active / Inactive 比例。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8904" y="1828800"/>
            <a:ext cx="20116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18904" y="1828800"/>
            <a:ext cx="54864" cy="1874519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01784" y="1993392"/>
            <a:ext cx="173736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0B8C9"/>
                </a:solidFill>
                <a:latin typeface="Microsoft YaHei"/>
              </a:rPr>
              <a:t>落盘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1784" y="2395728"/>
            <a:ext cx="1719072" cy="12161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特征矩阵写入
特征工程后数据.npz
名称写入 feature_names.txt</a:t>
            </a:r>
          </a:p>
        </p:txBody>
      </p:sp>
      <p:pic>
        <p:nvPicPr>
          <p:cNvPr id="22" name="Picture 21" descr="10_pca_cumulativ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219" y="4069080"/>
            <a:ext cx="2638097" cy="1691640"/>
          </a:xfrm>
          <a:prstGeom prst="rect">
            <a:avLst/>
          </a:prstGeom>
        </p:spPr>
      </p:pic>
      <p:pic>
        <p:nvPicPr>
          <p:cNvPr id="23" name="Picture 22" descr="07_descriptor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53" y="4069080"/>
            <a:ext cx="1865453" cy="1691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06 基线训练实现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第四步：先用单模型建立可比较的基线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同一份 NPZ 输入四个异质模型，统一输出回归和分类指标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54864" cy="141732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2221992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捕捉非线性
需要标准化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920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54864" cy="141732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08483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87168"/>
            <a:ext cx="2221992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树集成
降低方差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920240"/>
            <a:ext cx="54864" cy="141732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08483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HGBT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87168"/>
            <a:ext cx="2221992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梯度提升
拟合非线性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4" y="1920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70264" y="1920240"/>
            <a:ext cx="54864" cy="1417320"/>
          </a:xfrm>
          <a:prstGeom prst="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3144" y="2084832"/>
            <a:ext cx="22402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D95D5D"/>
                </a:solidFill>
                <a:latin typeface="Microsoft YaHei"/>
              </a:rPr>
              <a:t>SVM (RBF)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2487168"/>
            <a:ext cx="2221992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高维间隔
适合稀疏输入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3520440"/>
            <a:ext cx="8229600" cy="0"/>
          </a:xfrm>
          <a:prstGeom prst="line">
            <a:avLst/>
          </a:prstGeom>
          <a:ln w="21590">
            <a:solidFill>
              <a:srgbClr val="8FB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9787" y="3420715"/>
            <a:ext cx="182880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1" dirty="0" err="1">
                <a:solidFill>
                  <a:srgbClr val="102A43"/>
                </a:solidFill>
                <a:latin typeface="Microsoft YaHei"/>
              </a:rPr>
              <a:t>统一评估接口</a:t>
            </a:r>
            <a:endParaRPr sz="1300" b="1" dirty="0">
              <a:solidFill>
                <a:srgbClr val="102A43"/>
              </a:solidFill>
              <a:latin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" y="3886200"/>
            <a:ext cx="3429000" cy="1234440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886200"/>
            <a:ext cx="54864" cy="123444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050791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回归输出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453128"/>
            <a:ext cx="3136392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R²、RMSE、MAE；预测 pChEMBL。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0832" y="3886200"/>
            <a:ext cx="3429000" cy="1234440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70832" y="3886200"/>
            <a:ext cx="54864" cy="123444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4050791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分类输出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453128"/>
            <a:ext cx="3136392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AUC、Accuracy、F1、Precision、Recall。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3886200"/>
            <a:ext cx="3502152" cy="1234440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83296" y="3886200"/>
            <a:ext cx="54864" cy="123444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66175" y="4050791"/>
            <a:ext cx="322783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验证输出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4453128"/>
            <a:ext cx="3209544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5-fold CV、ROC、混淆矩阵、特征重要性。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07 集成实现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第五步：把基模型预测交给第二层学习器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lang="zh-CN" altLang="en-US" sz="1100" b="0" dirty="0">
                <a:solidFill>
                  <a:srgbClr val="52606D"/>
                </a:solidFill>
                <a:latin typeface="Microsoft YaHei"/>
              </a:rPr>
              <a:t>组合模型，实现集成学习</a:t>
            </a:r>
            <a:endParaRPr sz="1100" b="0" dirty="0">
              <a:solidFill>
                <a:srgbClr val="52606D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1965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7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075688"/>
            <a:ext cx="181965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1479A6"/>
                </a:solidFill>
                <a:latin typeface="Microsoft YaHei"/>
              </a:rPr>
              <a:t>六个基学习器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77440"/>
            <a:ext cx="1819656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MLP / RF / HGBT
SVM / ET / KNN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423160"/>
            <a:ext cx="850392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767328" y="1965960"/>
            <a:ext cx="2103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2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075688"/>
            <a:ext cx="1956815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F28E5B"/>
                </a:solidFill>
                <a:latin typeface="Microsoft YaHei"/>
              </a:rPr>
              <a:t>5-fold OOF 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1956815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每个样本得到
各模型的无泄漏预测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2423160"/>
            <a:ext cx="731520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784848" y="1965960"/>
            <a:ext cx="20574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E9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2075688"/>
            <a:ext cx="1911095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2E9D73"/>
                </a:solidFill>
                <a:latin typeface="Microsoft YaHei"/>
              </a:rPr>
              <a:t>元学习器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1911095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回归：RidgeCV
分类：LogisticCV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0" y="2423160"/>
            <a:ext cx="685800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710928" y="1965960"/>
            <a:ext cx="1737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0B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0" y="2075688"/>
            <a:ext cx="159105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20B8C9"/>
                </a:solidFill>
                <a:latin typeface="Microsoft YaHei"/>
              </a:rPr>
              <a:t>最终预测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377440"/>
            <a:ext cx="1591056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pChEMBL
活性概率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749039"/>
            <a:ext cx="5074920" cy="1353312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749039"/>
            <a:ext cx="54864" cy="1353312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913631"/>
            <a:ext cx="48006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Stacking 的实现关键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15968"/>
            <a:ext cx="4782312" cy="6949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第一层使用交叉验证预测，避免元学习器看到训练集真值造成泄漏；第二层学习各基模型的互补关系。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3328" y="3749039"/>
            <a:ext cx="5394960" cy="1353312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53328" y="3749039"/>
            <a:ext cx="54864" cy="1353312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3913631"/>
            <a:ext cx="5120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Voting 的实现关键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315968"/>
            <a:ext cx="5102352" cy="6949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按调优阶段的 CV 性能归一化分配权重；回归加权平均，分类加权概率。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08 优化实现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第六步：先做特征选择，再做调参和模型扩展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优化脚本把“试参数”变成可记录、可比较的实验流程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5_mutual_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3155"/>
            <a:ext cx="5394960" cy="2008689"/>
          </a:xfrm>
          <a:prstGeom prst="rect">
            <a:avLst/>
          </a:prstGeom>
        </p:spPr>
      </p:pic>
      <p:pic>
        <p:nvPicPr>
          <p:cNvPr id="7" name="Picture 6" descr="O6_cv_optim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69344"/>
            <a:ext cx="5303520" cy="19763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224528"/>
            <a:ext cx="3429000" cy="1234440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4224528"/>
            <a:ext cx="54864" cy="123444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4389120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MI 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791456"/>
            <a:ext cx="3136392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比较 k=200/500/800/1000/1500/2105；k=1000 的 CV R² 最优。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4224528"/>
            <a:ext cx="3429000" cy="1234440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4224528"/>
            <a:ext cx="54864" cy="123444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4389120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随机搜索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791456"/>
            <a:ext cx="3136392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RF、HGBT、SVM、MLP 使用 RandomizedSearchCV；记录最佳参数与 CV 分数。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4224528"/>
            <a:ext cx="3493008" cy="1234440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4224528"/>
            <a:ext cx="54864" cy="123444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4389120"/>
            <a:ext cx="3218688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扩展基学习器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4791456"/>
            <a:ext cx="3200400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增加 Extra Trees 与 KNN，重新训练 Stacking v2 / Voting v2。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760720"/>
            <a:ext cx="106984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400" b="1" dirty="0" err="1">
                <a:solidFill>
                  <a:srgbClr val="102A43"/>
                </a:solidFill>
                <a:latin typeface="Microsoft YaHei"/>
              </a:rPr>
              <a:t>输入维度</a:t>
            </a:r>
            <a:r>
              <a:rPr sz="1400" b="1" dirty="0">
                <a:solidFill>
                  <a:srgbClr val="102A43"/>
                </a:solidFill>
                <a:latin typeface="Microsoft YaHei"/>
              </a:rPr>
              <a:t> 2105 → 1000；Stacking v2 </a:t>
            </a:r>
            <a:r>
              <a:rPr sz="1400" b="1" dirty="0" err="1">
                <a:solidFill>
                  <a:srgbClr val="102A43"/>
                </a:solidFill>
                <a:latin typeface="Microsoft YaHei"/>
              </a:rPr>
              <a:t>分类</a:t>
            </a:r>
            <a:r>
              <a:rPr sz="1400" b="1" dirty="0">
                <a:solidFill>
                  <a:srgbClr val="102A43"/>
                </a:solidFill>
                <a:latin typeface="Microsoft YaHei"/>
              </a:rPr>
              <a:t> AUC = 0.9336。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09 结果验证实现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每一步代码都留下可检查的证据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图表不是装饰，而是用来定位数据、模型和误差是否合理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1_regress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24279"/>
            <a:ext cx="5349240" cy="1466441"/>
          </a:xfrm>
          <a:prstGeom prst="rect">
            <a:avLst/>
          </a:prstGeom>
        </p:spPr>
      </p:pic>
      <p:pic>
        <p:nvPicPr>
          <p:cNvPr id="7" name="Picture 6" descr="E3_roc_curves_ense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468" y="1783080"/>
            <a:ext cx="2118142" cy="2148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4160520"/>
            <a:ext cx="3429000" cy="1234440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4160520"/>
            <a:ext cx="54864" cy="123444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4325112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回归诊断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727448"/>
            <a:ext cx="3136392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散点图检查预测与真实值的一致性；残差分布暴露系统偏差。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4160520"/>
            <a:ext cx="3429000" cy="1234440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4160520"/>
            <a:ext cx="54864" cy="123444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4325112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分类诊断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727448"/>
            <a:ext cx="3136392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ROC / AUC、混淆矩阵与概率分布共同检查阈值效果。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4160520"/>
            <a:ext cx="3493008" cy="1234440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4160520"/>
            <a:ext cx="54864" cy="123444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4325112"/>
            <a:ext cx="3218688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稳定性诊断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4727448"/>
            <a:ext cx="3200400" cy="576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交叉验证均值和标准差用于判断是否只是一次测试集偶然提升。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10 前端串联实现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最后一步：把离线模型接成可操作的筛选工具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frontend 目录把输入、预测、排序、导出和报告查看串起来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011680"/>
            <a:ext cx="1874519" cy="868680"/>
          </a:xfrm>
          <a:prstGeom prst="rect">
            <a:avLst/>
          </a:prstGeom>
          <a:solidFill>
            <a:srgbClr val="FFFFFF"/>
          </a:solidFill>
          <a:ln>
            <a:solidFill>
              <a:srgbClr val="147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21408"/>
            <a:ext cx="172821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1479A6"/>
                </a:solidFill>
                <a:latin typeface="Microsoft YaHei"/>
              </a:rPr>
              <a:t>单分子输入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172821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SMILES 文本框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24912" y="2441448"/>
            <a:ext cx="411480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0" y="2011680"/>
            <a:ext cx="1874519" cy="868680"/>
          </a:xfrm>
          <a:prstGeom prst="rect">
            <a:avLst/>
          </a:prstGeom>
          <a:solidFill>
            <a:srgbClr val="FFFFFF"/>
          </a:solidFill>
          <a:ln>
            <a:solidFill>
              <a:srgbClr val="F2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3552" y="2121408"/>
            <a:ext cx="172821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F28E5B"/>
                </a:solidFill>
                <a:latin typeface="Microsoft YaHei"/>
              </a:rPr>
              <a:t>模型选择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423160"/>
            <a:ext cx="172821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Stacking / Voting
RF / SVM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75504" y="2441448"/>
            <a:ext cx="420624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69280" y="2011680"/>
            <a:ext cx="1874519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9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42432" y="2121408"/>
            <a:ext cx="172821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2E9D73"/>
                </a:solidFill>
                <a:latin typeface="Microsoft YaHei"/>
              </a:rPr>
              <a:t>预测服务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423160"/>
            <a:ext cx="172821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单分子 / 批量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44383" y="2441448"/>
            <a:ext cx="420625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38160" y="2011680"/>
            <a:ext cx="1874519" cy="868680"/>
          </a:xfrm>
          <a:prstGeom prst="rect">
            <a:avLst/>
          </a:prstGeom>
          <a:solidFill>
            <a:srgbClr val="FFFFFF"/>
          </a:solidFill>
          <a:ln>
            <a:solidFill>
              <a:srgbClr val="20B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121408"/>
            <a:ext cx="172821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20B8C9"/>
                </a:solidFill>
                <a:latin typeface="Microsoft YaHei"/>
              </a:rPr>
              <a:t>批量处理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423160"/>
            <a:ext cx="172821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CSV 解析
概率阈值过滤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13264" y="2441448"/>
            <a:ext cx="329184" cy="0"/>
          </a:xfrm>
          <a:prstGeom prst="line">
            <a:avLst/>
          </a:prstGeom>
          <a:ln w="21590">
            <a:solidFill>
              <a:srgbClr val="20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497312" y="2011680"/>
            <a:ext cx="1097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70464" y="2121408"/>
            <a:ext cx="950976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D95D5D"/>
                </a:solidFill>
                <a:latin typeface="Microsoft YaHei"/>
              </a:rPr>
              <a:t>导出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0464" y="2423160"/>
            <a:ext cx="950976" cy="41147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900" b="0">
                <a:solidFill>
                  <a:srgbClr val="52606D"/>
                </a:solidFill>
                <a:latin typeface="Microsoft YaHei"/>
              </a:rPr>
              <a:t>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3675887"/>
            <a:ext cx="3429000" cy="1417320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3675887"/>
            <a:ext cx="54864" cy="141732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840479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app.js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242816"/>
            <a:ext cx="3136392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状态管理、模型选择、单分子 / 批量预测、分页和导出。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675887"/>
            <a:ext cx="3429000" cy="1417320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70832" y="3675887"/>
            <a:ext cx="54864" cy="141732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3712" y="3840479"/>
            <a:ext cx="315468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index.html + styles.css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242816"/>
            <a:ext cx="3136392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页面骨架、导航、报告入口、图表和交互样式。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3296" y="3675887"/>
            <a:ext cx="3493008" cy="1417320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83296" y="3675887"/>
            <a:ext cx="54864" cy="141732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66175" y="3840479"/>
            <a:ext cx="3218688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数据演示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4242816"/>
            <a:ext cx="3200400" cy="75895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虚拟筛选 CSV、瀑布图、富集曲线和模型案例图。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11 如何复现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项目运行顺序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各阶段输入输出明确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2057400"/>
            <a:ext cx="438912" cy="438912"/>
          </a:xfrm>
          <a:prstGeom prst="ellipse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39696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11680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准备依赖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313432"/>
            <a:ext cx="2240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Python、pandas、scikit-learn、RDKit、matplotlib、python-pptx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79" y="2057400"/>
            <a:ext cx="438912" cy="438912"/>
          </a:xfrm>
          <a:prstGeom prst="ellipse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79" y="2139696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011680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生成特征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313432"/>
            <a:ext cx="2240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运行环节一脚本，再运行环节二清洗和环节三特征工程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828800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2057400"/>
            <a:ext cx="438912" cy="438912"/>
          </a:xfrm>
          <a:prstGeom prst="ellipse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139696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2011680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训练基线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313432"/>
            <a:ext cx="2240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运行环节四 01_模型训练与评估.py，检查报告和 figures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337560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59" y="3566160"/>
            <a:ext cx="438912" cy="438912"/>
          </a:xfrm>
          <a:prstGeom prst="ellipse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648456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520440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训练集成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822191"/>
            <a:ext cx="2240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运行环节五 01_集成学习.py，比较 Stacking / Voting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3337560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26279" y="3566160"/>
            <a:ext cx="438912" cy="438912"/>
          </a:xfrm>
          <a:prstGeom prst="ellipse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79" y="3648456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3520440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执行优化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3822191"/>
            <a:ext cx="2240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运行环节六两个脚本，得到 MI、调参和 v2 结果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3337560"/>
            <a:ext cx="32461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9600" y="3566160"/>
            <a:ext cx="438912" cy="438912"/>
          </a:xfrm>
          <a:prstGeom prst="ellipse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3648456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3520440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Microsoft YaHei"/>
              </a:rPr>
              <a:t>启动演示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3822191"/>
            <a:ext cx="22402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50" b="0">
                <a:solidFill>
                  <a:srgbClr val="52606D"/>
                </a:solidFill>
                <a:latin typeface="Microsoft YaHei"/>
              </a:rPr>
              <a:t>打开 frontend/index.html，或使用启动前端.bat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138928"/>
            <a:ext cx="10927080" cy="658368"/>
          </a:xfrm>
          <a:prstGeom prst="rect">
            <a:avLst/>
          </a:prstGeom>
          <a:solidFill>
            <a:srgbClr val="EAF7F1"/>
          </a:solidFill>
          <a:ln>
            <a:solidFill>
              <a:srgbClr val="C3E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340096"/>
            <a:ext cx="1037844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Microsoft YaHei"/>
              </a:rPr>
              <a:t>检查点：每阶段至少确认一个中间文件、一个数字报告、一个可视化结果，再进入下一阶段。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000" b="1">
                <a:solidFill>
                  <a:srgbClr val="1479A6"/>
                </a:solidFill>
                <a:latin typeface="Microsoft YaHei"/>
              </a:rPr>
              <a:t>12 方法选择与实现要点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754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Microsoft YaHei"/>
              </a:rPr>
              <a:t>关键实现要点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78992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100" b="0">
                <a:solidFill>
                  <a:srgbClr val="52606D"/>
                </a:solidFill>
                <a:latin typeface="Microsoft YaHei"/>
              </a:rPr>
              <a:t>兼顾可解释性、稳定性与可运行性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676656" cy="54864"/>
          </a:xfrm>
          <a:prstGeom prst="rect">
            <a:avLst/>
          </a:prstGeom>
          <a:solidFill>
            <a:srgbClr val="20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3456432" cy="3520440"/>
          </a:xfrm>
          <a:prstGeom prst="rect">
            <a:avLst/>
          </a:prstGeom>
          <a:solidFill>
            <a:srgbClr val="E8F3F7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3520440"/>
          </a:xfrm>
          <a:prstGeom prst="rect">
            <a:avLst/>
          </a:prstGeom>
          <a:solidFill>
            <a:srgbClr val="147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1479A6"/>
                </a:solidFill>
                <a:latin typeface="Microsoft YaHei"/>
              </a:rPr>
              <a:t>数据层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3163824" cy="2862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同一分子多次实验取中位数，减少实验重复对模型的偏置。
保留回归值和分类标签，支持两种任务而不重复清洗。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3456432" cy="3520440"/>
          </a:xfrm>
          <a:prstGeom prst="rect">
            <a:avLst/>
          </a:prstGeom>
          <a:solidFill>
            <a:srgbClr val="FFF0E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54864" cy="3520440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993392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28E5B"/>
                </a:solidFill>
                <a:latin typeface="Microsoft YaHei"/>
              </a:rPr>
              <a:t>模型层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95728"/>
            <a:ext cx="3163824" cy="2862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先基线、后集成、再优化，避免无法解释“提升来自哪里”。
Stacking 用 OOF 预测，避免数据泄漏。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3456432" cy="3520440"/>
          </a:xfrm>
          <a:prstGeom prst="rect">
            <a:avLst/>
          </a:prstGeom>
          <a:solidFill>
            <a:srgbClr val="EAF7F1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828800"/>
            <a:ext cx="54864" cy="3520440"/>
          </a:xfrm>
          <a:prstGeom prst="rect">
            <a:avLst/>
          </a:prstGeom>
          <a:solidFill>
            <a:srgbClr val="2E9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993392"/>
            <a:ext cx="3182112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2E9D73"/>
                </a:solidFill>
                <a:latin typeface="Microsoft YaHei"/>
              </a:rPr>
              <a:t>产品层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95728"/>
            <a:ext cx="3163824" cy="28620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Microsoft YaHei"/>
              </a:rPr>
              <a:t>前端展示预测排序和活性概率，服务于候选优先级，而非替代实验。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528816"/>
            <a:ext cx="1106424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800" b="1">
                <a:solidFill>
                  <a:srgbClr val="52606D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182880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A9DCE1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8138160" cy="10515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从数据到模型，再到虚拟筛选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23160"/>
            <a:ext cx="1005840" cy="64008"/>
          </a:xfrm>
          <a:prstGeom prst="rect">
            <a:avLst/>
          </a:prstGeom>
          <a:solidFill>
            <a:srgbClr val="F2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658368" cy="29260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900" b="1">
                <a:solidFill>
                  <a:srgbClr val="20B8C9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962656"/>
            <a:ext cx="150876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数据管线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962656"/>
            <a:ext cx="640080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>
                <a:solidFill>
                  <a:srgbClr val="D7EEF0"/>
                </a:solidFill>
                <a:latin typeface="Microsoft YaHei"/>
              </a:rPr>
              <a:t>从 ChEMBL 原始记录得到可训练矩阵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94760"/>
            <a:ext cx="658368" cy="29260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900" b="1">
                <a:solidFill>
                  <a:srgbClr val="F28E5B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85616"/>
            <a:ext cx="150876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模型管线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785616"/>
            <a:ext cx="640080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>
                <a:solidFill>
                  <a:srgbClr val="D7EEF0"/>
                </a:solidFill>
                <a:latin typeface="Microsoft YaHei"/>
              </a:rPr>
              <a:t>基线 → 集成 → MI 与超参优化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617720"/>
            <a:ext cx="658368" cy="29260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900" b="1">
                <a:solidFill>
                  <a:srgbClr val="2E9D73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08576"/>
            <a:ext cx="150876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应用管线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608576"/>
            <a:ext cx="6400800" cy="256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300" b="0">
                <a:solidFill>
                  <a:srgbClr val="D7EEF0"/>
                </a:solidFill>
                <a:latin typeface="Microsoft YaHei"/>
              </a:rPr>
              <a:t>预测 → 排序 → CSV 导出 → 前端演示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15000"/>
            <a:ext cx="10332720" cy="18288"/>
          </a:xfrm>
          <a:prstGeom prst="rect">
            <a:avLst/>
          </a:prstGeom>
          <a:solidFill>
            <a:srgbClr val="417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4901184"/>
            <a:ext cx="2834640" cy="8686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icrosoft YaHei"/>
              </a:rPr>
              <a:t>谢谢各位老师
欢迎提问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61888"/>
            <a:ext cx="65836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787</Words>
  <Application>Microsoft Office PowerPoint</Application>
  <PresentationFormat>宽屏</PresentationFormat>
  <Paragraphs>197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Young</cp:lastModifiedBy>
  <cp:revision>4</cp:revision>
  <dcterms:created xsi:type="dcterms:W3CDTF">2013-01-27T09:14:16Z</dcterms:created>
  <dcterms:modified xsi:type="dcterms:W3CDTF">2026-10-07T05:02:10Z</dcterms:modified>
  <cp:category/>
</cp:coreProperties>
</file>